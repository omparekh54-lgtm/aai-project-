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23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customXml" Target="../customXml/item1.xml"/><Relationship Id="rId21" Type="http://schemas.openxmlformats.org/officeDocument/2006/relationships/customXml" Target="../customXml/item2.xml"/><Relationship Id="rId22" Type="http://schemas.openxmlformats.org/officeDocument/2006/relationships/customXml" Target="../customXml/item3.xml"/><Relationship Id="rId2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02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each cab is an autonomous RL agent; together they learn city-wide dispatch and repositioning.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between greedy dispatch and learned, anticipatory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grid: hot zones = demand; Cab A only sees its 3x3 neighbourhood and exchanges info with two neighbours.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decision step = one simulated minute (assumption for the pilot).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can be calibrated from public taxi trip records; the pilot uses synthetic but realistic demand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DQN chosen because actions are discrete and the state is continuous. Parameter sharing works because all cabs are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reward and transitions couple the agents, so this is a Markov game; partial observability makes it a Dec-POMDP style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non-learning baselines set the bar; DQN is the core contribution; QMIX is the stretch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steps from problem definition to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report only measured results in the final presentation; here we commit to what and how we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known multi-agent RL difficulty has a matching design choice already built into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Immediate plan is three phases; longer-term ideas extend the same agent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18.png"/><Relationship Id="rId9" Type="http://schemas.openxmlformats.org/officeDocument/2006/relationships/image" Target="../media/image10.png"/><Relationship Id="rId10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5.png"/><Relationship Id="rId9" Type="http://schemas.openxmlformats.org/officeDocument/2006/relationships/image" Target="../media/image15.png"/><Relationship Id="rId10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15.png"/><Relationship Id="rId9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20"/>
            <a:ext cx="6949440" cy="6858000"/>
          </a:xfrm>
          <a:prstGeom prst="rect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PROJECT PROPOSAL &amp; DESIGN PRESENTATION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Cab Dispatch using Reinforcement Learning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reinforcement-learning agents — one per cab — that learn where to wait and which rides to take, cutting rider waiting time and idle driving across a city.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26A7A"/>
          </a:solidFill>
          <a:ln w="12700">
            <a:solidFill>
              <a:srgbClr val="126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5303520"/>
            <a:ext cx="365760" cy="36576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" y="5402275"/>
            <a:ext cx="168250" cy="1682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61872" y="519379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Kavya Gala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55229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E015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24912" y="502920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26A7A"/>
          </a:solidFill>
          <a:ln w="12700">
            <a:solidFill>
              <a:srgbClr val="126A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62072" y="5303520"/>
            <a:ext cx="365760" cy="36576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827" y="5402275"/>
            <a:ext cx="168250" cy="168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46704" y="519379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Aarya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Shah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346704" y="55229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E011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09744" y="502920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26A7A"/>
          </a:solidFill>
          <a:ln w="12700">
            <a:solidFill>
              <a:srgbClr val="126A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46904" y="5303520"/>
            <a:ext cx="365760" cy="36576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659" y="5402275"/>
            <a:ext cx="168250" cy="1682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31536" y="519379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Parekh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31536" y="55229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E031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355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AAI Project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60920" y="685800"/>
            <a:ext cx="4279392" cy="5486400"/>
          </a:xfrm>
          <a:prstGeom prst="roundRect">
            <a:avLst>
              <a:gd name="adj" fmla="val 4274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38160" y="868680"/>
            <a:ext cx="0" cy="512064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09760" y="868680"/>
            <a:ext cx="0" cy="512064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881360" y="868680"/>
            <a:ext cx="0" cy="512064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0" y="1828800"/>
            <a:ext cx="4005072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0" y="3429000"/>
            <a:ext cx="4005072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0" y="5029200"/>
            <a:ext cx="4005072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138160" y="1828800"/>
            <a:ext cx="1371600" cy="0"/>
          </a:xfrm>
          <a:prstGeom prst="line">
            <a:avLst/>
          </a:prstGeom>
          <a:noFill/>
          <a:ln w="31750">
            <a:solidFill>
              <a:srgbClr val="FF6B57"/>
            </a:solidFill>
            <a:prstDash val="dash"/>
          </a:ln>
        </p:spPr>
      </p:sp>
      <p:sp>
        <p:nvSpPr>
          <p:cNvPr id="30" name="Shape 25"/>
          <p:cNvSpPr/>
          <p:nvPr/>
        </p:nvSpPr>
        <p:spPr>
          <a:xfrm>
            <a:off x="10881360" y="1828800"/>
            <a:ext cx="0" cy="1600200"/>
          </a:xfrm>
          <a:prstGeom prst="line">
            <a:avLst/>
          </a:prstGeom>
          <a:noFill/>
          <a:ln w="31750">
            <a:solidFill>
              <a:srgbClr val="FF6B57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8138160" y="5029200"/>
            <a:ext cx="1371600" cy="0"/>
          </a:xfrm>
          <a:prstGeom prst="line">
            <a:avLst/>
          </a:prstGeom>
          <a:noFill/>
          <a:ln w="31750">
            <a:solidFill>
              <a:srgbClr val="FF6B57"/>
            </a:solidFill>
            <a:prstDash val="dash"/>
          </a:ln>
        </p:spPr>
      </p:sp>
      <p:sp>
        <p:nvSpPr>
          <p:cNvPr id="32" name="Shape 27"/>
          <p:cNvSpPr/>
          <p:nvPr/>
        </p:nvSpPr>
        <p:spPr>
          <a:xfrm>
            <a:off x="9509760" y="3429000"/>
            <a:ext cx="1371600" cy="0"/>
          </a:xfrm>
          <a:prstGeom prst="line">
            <a:avLst/>
          </a:prstGeom>
          <a:noFill/>
          <a:ln w="31750">
            <a:solidFill>
              <a:srgbClr val="FF6B57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9400032" y="1719072"/>
            <a:ext cx="219456" cy="219456"/>
          </a:xfrm>
          <a:prstGeom prst="ellipse">
            <a:avLst/>
          </a:prstGeom>
          <a:solidFill>
            <a:srgbClr val="0B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771632" y="1719072"/>
            <a:ext cx="219456" cy="219456"/>
          </a:xfrm>
          <a:prstGeom prst="ellipse">
            <a:avLst/>
          </a:prstGeom>
          <a:solidFill>
            <a:srgbClr val="0B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400032" y="4919472"/>
            <a:ext cx="219456" cy="219456"/>
          </a:xfrm>
          <a:prstGeom prst="ellipse">
            <a:avLst/>
          </a:prstGeom>
          <a:solidFill>
            <a:srgbClr val="0B4F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891272" y="1581912"/>
            <a:ext cx="493776" cy="493776"/>
          </a:xfrm>
          <a:prstGeom prst="ellipse">
            <a:avLst/>
          </a:prstGeom>
          <a:solidFill>
            <a:srgbClr val="FF6B57"/>
          </a:solidFill>
          <a:ln w="31750">
            <a:solidFill>
              <a:srgbClr val="FFFFFF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700784"/>
            <a:ext cx="256032" cy="25603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0634472" y="3182112"/>
            <a:ext cx="493776" cy="493776"/>
          </a:xfrm>
          <a:prstGeom prst="ellipse">
            <a:avLst/>
          </a:prstGeom>
          <a:solidFill>
            <a:srgbClr val="FF6B57"/>
          </a:solidFill>
          <a:ln w="31750">
            <a:solidFill>
              <a:srgbClr val="FFFFFF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344" y="3300984"/>
            <a:ext cx="256032" cy="256032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7891272" y="4782312"/>
            <a:ext cx="493776" cy="493776"/>
          </a:xfrm>
          <a:prstGeom prst="ellipse">
            <a:avLst/>
          </a:prstGeom>
          <a:solidFill>
            <a:srgbClr val="FF6B57"/>
          </a:solidFill>
          <a:ln w="31750">
            <a:solidFill>
              <a:srgbClr val="FFFFFF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4901184"/>
            <a:ext cx="256032" cy="256032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9262872" y="3182112"/>
            <a:ext cx="493776" cy="493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6A7A"/>
            </a:solidFill>
            <a:prstDash val="dash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3300984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Smarter, Coordinated Cab Dispatch?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greedy nearest-cab matching to cabs that learn where demand will appear.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31920" y="640080"/>
            <a:ext cx="7799832" cy="118872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0520" y="960120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653" y="110825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83480" y="768096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1078992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dispatch with greedy nearest-cab matching or fixed zone rules. They ignore where demand will appear next, so cabs sit idle in one area while riders wait in another — long pickups, cancellations and empty kilometres.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31920" y="2011680"/>
            <a:ext cx="7799832" cy="118872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2331720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653" y="247985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83480" y="2139696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2450592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cabs and long waits cost drivers income, riders time, and cities extra fuel and emissions. Supply–demand imbalance also compounds through the day as cabs drift toward the same hotspots.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931920" y="3383280"/>
            <a:ext cx="7799832" cy="118872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60520" y="3703320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653" y="3851453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83480" y="3511296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/ What Are the Agents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983480" y="3822192"/>
            <a:ext cx="6519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cab is an autonomous learning agent. It observes its local surroundings and decides whether to accept a ride, wait, or reposition — coordinating implicitly with nearby cabs.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931920" y="4846320"/>
            <a:ext cx="7799832" cy="1417320"/>
          </a:xfrm>
          <a:prstGeom prst="roundRect">
            <a:avLst>
              <a:gd name="adj" fmla="val 9032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206240" y="4846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F6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400" dirty="0"/>
          </a:p>
        </p:txBody>
      </p:sp>
      <p:sp>
        <p:nvSpPr>
          <p:cNvPr id="24" name="Text 19"/>
          <p:cNvSpPr txBox="1"/>
          <p:nvPr/>
        </p:nvSpPr>
        <p:spPr>
          <a:xfrm>
            <a:off x="4937760" y="5029200"/>
            <a:ext cx="6519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multi-agent cab dispatch system in which every cab is an autonomous agent that learns where to go and which rides to take — cooperating with nearby cabs to cut rider waiting time and idle driving across the whole city.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4937760" y="5943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AGENTS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Cab Is an Autonomous Agent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learning agent per cab, each seeing only its own neighbourhood.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CITY  —  5×5 ZONE GRID  ·  8 CABS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777240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777240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41264" y="777240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45936" y="777240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50608" y="777240"/>
            <a:ext cx="731520" cy="731520"/>
          </a:xfrm>
          <a:prstGeom prst="roundRect">
            <a:avLst>
              <a:gd name="adj" fmla="val 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581912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1581912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41264" y="1581912"/>
            <a:ext cx="731520" cy="731520"/>
          </a:xfrm>
          <a:prstGeom prst="roundRect">
            <a:avLst>
              <a:gd name="adj" fmla="val 8750"/>
            </a:avLst>
          </a:prstGeom>
          <a:solidFill>
            <a:srgbClr val="8FC7C0"/>
          </a:solidFill>
          <a:ln w="12700">
            <a:solidFill>
              <a:srgbClr val="8FC7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581912"/>
            <a:ext cx="731520" cy="731520"/>
          </a:xfrm>
          <a:prstGeom prst="roundRect">
            <a:avLst>
              <a:gd name="adj" fmla="val 8750"/>
            </a:avLst>
          </a:prstGeom>
          <a:solidFill>
            <a:srgbClr val="8FC7C0"/>
          </a:solidFill>
          <a:ln w="12700">
            <a:solidFill>
              <a:srgbClr val="8FC7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0608" y="1581912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2386584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2386584"/>
            <a:ext cx="731520" cy="731520"/>
          </a:xfrm>
          <a:prstGeom prst="roundRect">
            <a:avLst>
              <a:gd name="adj" fmla="val 8750"/>
            </a:avLst>
          </a:prstGeom>
          <a:solidFill>
            <a:srgbClr val="8FC7C0"/>
          </a:solidFill>
          <a:ln w="12700">
            <a:solidFill>
              <a:srgbClr val="8FC7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2386584"/>
            <a:ext cx="731520" cy="731520"/>
          </a:xfrm>
          <a:prstGeom prst="roundRect">
            <a:avLst>
              <a:gd name="adj" fmla="val 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2386584"/>
            <a:ext cx="731520" cy="731520"/>
          </a:xfrm>
          <a:prstGeom prst="roundRect">
            <a:avLst>
              <a:gd name="adj" fmla="val 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2386584"/>
            <a:ext cx="731520" cy="731520"/>
          </a:xfrm>
          <a:prstGeom prst="roundRect">
            <a:avLst>
              <a:gd name="adj" fmla="val 8750"/>
            </a:avLst>
          </a:prstGeom>
          <a:solidFill>
            <a:srgbClr val="8FC7C0"/>
          </a:solidFill>
          <a:ln w="12700">
            <a:solidFill>
              <a:srgbClr val="8FC7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319125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319125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41264" y="319125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8FC7C0"/>
          </a:solidFill>
          <a:ln w="12700">
            <a:solidFill>
              <a:srgbClr val="8FC7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5936" y="319125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8FC7C0"/>
          </a:solidFill>
          <a:ln w="12700">
            <a:solidFill>
              <a:srgbClr val="8FC7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0608" y="3191256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399592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399592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1264" y="399592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399592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399592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05472" y="822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24323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18304" y="1563624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6B57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V="1">
            <a:off x="5907024" y="1947672"/>
            <a:ext cx="804672" cy="804672"/>
          </a:xfrm>
          <a:prstGeom prst="line">
            <a:avLst/>
          </a:prstGeom>
          <a:noFill/>
          <a:ln w="25400">
            <a:solidFill>
              <a:srgbClr val="12262B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5907024" y="2752344"/>
            <a:ext cx="0" cy="804672"/>
          </a:xfrm>
          <a:prstGeom prst="line">
            <a:avLst/>
          </a:prstGeom>
          <a:noFill/>
          <a:ln w="25400">
            <a:solidFill>
              <a:srgbClr val="12262B"/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6044184" y="2066544"/>
            <a:ext cx="164592" cy="164592"/>
          </a:xfrm>
          <a:prstGeom prst="ellipse">
            <a:avLst/>
          </a:prstGeom>
          <a:solidFill>
            <a:srgbClr val="0B4F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48856" y="2871216"/>
            <a:ext cx="164592" cy="164592"/>
          </a:xfrm>
          <a:prstGeom prst="ellipse">
            <a:avLst/>
          </a:prstGeom>
          <a:solidFill>
            <a:srgbClr val="0B4F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53528" y="1261872"/>
            <a:ext cx="164592" cy="164592"/>
          </a:xfrm>
          <a:prstGeom prst="ellipse">
            <a:avLst/>
          </a:prstGeom>
          <a:solidFill>
            <a:srgbClr val="0B4F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8856" y="3675888"/>
            <a:ext cx="164592" cy="164592"/>
          </a:xfrm>
          <a:prstGeom prst="ellipse">
            <a:avLst/>
          </a:prstGeom>
          <a:solidFill>
            <a:srgbClr val="0B4F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39512" y="2871216"/>
            <a:ext cx="164592" cy="164592"/>
          </a:xfrm>
          <a:prstGeom prst="ellipse">
            <a:avLst/>
          </a:prstGeom>
          <a:solidFill>
            <a:srgbClr val="0B4F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48856" y="4480560"/>
            <a:ext cx="164592" cy="164592"/>
          </a:xfrm>
          <a:prstGeom prst="ellipse">
            <a:avLst/>
          </a:prstGeom>
          <a:solidFill>
            <a:srgbClr val="0B4F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01184" y="941832"/>
            <a:ext cx="402336" cy="402336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033272"/>
            <a:ext cx="219456" cy="219456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7315200" y="941832"/>
            <a:ext cx="402336" cy="402336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33272"/>
            <a:ext cx="219456" cy="219456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6510528" y="1746504"/>
            <a:ext cx="402336" cy="402336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837944"/>
            <a:ext cx="219456" cy="219456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4096512" y="2551176"/>
            <a:ext cx="402336" cy="402336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2642616"/>
            <a:ext cx="219456" cy="219456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5705856" y="2551176"/>
            <a:ext cx="402336" cy="402336"/>
          </a:xfrm>
          <a:prstGeom prst="ellipse">
            <a:avLst/>
          </a:prstGeom>
          <a:solidFill>
            <a:srgbClr val="FF6B57"/>
          </a:solidFill>
          <a:ln w="28575">
            <a:solidFill>
              <a:srgbClr val="12262B"/>
            </a:solidFill>
            <a:prstDash val="solid"/>
          </a:ln>
        </p:spPr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642616"/>
            <a:ext cx="219456" cy="219456"/>
          </a:xfrm>
          <a:prstGeom prst="rect">
            <a:avLst/>
          </a:prstGeom>
        </p:spPr>
      </p:pic>
      <p:sp>
        <p:nvSpPr>
          <p:cNvPr id="54" name="Shape 47"/>
          <p:cNvSpPr/>
          <p:nvPr/>
        </p:nvSpPr>
        <p:spPr>
          <a:xfrm>
            <a:off x="5705856" y="3355848"/>
            <a:ext cx="402336" cy="402336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3447288"/>
            <a:ext cx="219456" cy="219456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7315200" y="3355848"/>
            <a:ext cx="402336" cy="402336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447288"/>
            <a:ext cx="219456" cy="219456"/>
          </a:xfrm>
          <a:prstGeom prst="rect">
            <a:avLst/>
          </a:prstGeom>
        </p:spPr>
      </p:pic>
      <p:sp>
        <p:nvSpPr>
          <p:cNvPr id="58" name="Shape 49"/>
          <p:cNvSpPr/>
          <p:nvPr/>
        </p:nvSpPr>
        <p:spPr>
          <a:xfrm>
            <a:off x="4901184" y="4160520"/>
            <a:ext cx="402336" cy="402336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4251960"/>
            <a:ext cx="219456" cy="219456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5541264" y="2322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A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3931920" y="4983480"/>
            <a:ext cx="274320" cy="27432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5052060"/>
            <a:ext cx="137160" cy="137160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4315968" y="4983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(agent)</a:t>
            </a:r>
            <a:endParaRPr lang="en-US" sz="1100" dirty="0"/>
          </a:p>
        </p:txBody>
      </p:sp>
      <p:sp>
        <p:nvSpPr>
          <p:cNvPr id="64" name="Shape 53"/>
          <p:cNvSpPr/>
          <p:nvPr/>
        </p:nvSpPr>
        <p:spPr>
          <a:xfrm>
            <a:off x="5998464" y="5038344"/>
            <a:ext cx="164592" cy="164592"/>
          </a:xfrm>
          <a:prstGeom prst="ellipse">
            <a:avLst/>
          </a:prstGeom>
          <a:solidFill>
            <a:srgbClr val="0B4F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6327648" y="4983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ride request</a:t>
            </a:r>
            <a:endParaRPr lang="en-US" sz="1100" dirty="0"/>
          </a:p>
        </p:txBody>
      </p:sp>
      <p:sp>
        <p:nvSpPr>
          <p:cNvPr id="66" name="Shape 55"/>
          <p:cNvSpPr/>
          <p:nvPr/>
        </p:nvSpPr>
        <p:spPr>
          <a:xfrm>
            <a:off x="3931920" y="53675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4315968" y="5367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zone</a:t>
            </a:r>
            <a:endParaRPr lang="en-US" sz="1100" dirty="0"/>
          </a:p>
        </p:txBody>
      </p:sp>
      <p:sp>
        <p:nvSpPr>
          <p:cNvPr id="68" name="Shape 57"/>
          <p:cNvSpPr/>
          <p:nvPr/>
        </p:nvSpPr>
        <p:spPr>
          <a:xfrm>
            <a:off x="5943600" y="5367528"/>
            <a:ext cx="27432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6B57"/>
            </a:solidFill>
            <a:prstDash val="dash"/>
          </a:ln>
        </p:spPr>
      </p:sp>
      <p:sp>
        <p:nvSpPr>
          <p:cNvPr id="69" name="Text 58"/>
          <p:cNvSpPr txBox="1"/>
          <p:nvPr/>
        </p:nvSpPr>
        <p:spPr>
          <a:xfrm>
            <a:off x="6327648" y="5367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A’s sensing range</a:t>
            </a:r>
            <a:endParaRPr lang="en-US" sz="1100" dirty="0"/>
          </a:p>
        </p:txBody>
      </p:sp>
      <p:sp>
        <p:nvSpPr>
          <p:cNvPr id="70" name="Shape 59"/>
          <p:cNvSpPr/>
          <p:nvPr/>
        </p:nvSpPr>
        <p:spPr>
          <a:xfrm>
            <a:off x="3931920" y="5888736"/>
            <a:ext cx="274320" cy="0"/>
          </a:xfrm>
          <a:prstGeom prst="line">
            <a:avLst/>
          </a:prstGeom>
          <a:noFill/>
          <a:ln w="25400">
            <a:solidFill>
              <a:srgbClr val="12262B"/>
            </a:solidFill>
            <a:prstDash val="sysDot"/>
          </a:ln>
        </p:spPr>
      </p:sp>
      <p:sp>
        <p:nvSpPr>
          <p:cNvPr id="71" name="Text 60"/>
          <p:cNvSpPr txBox="1"/>
          <p:nvPr/>
        </p:nvSpPr>
        <p:spPr>
          <a:xfrm>
            <a:off x="4315968" y="57515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counts (observed)</a:t>
            </a:r>
            <a:endParaRPr lang="en-US" sz="1100" dirty="0"/>
          </a:p>
        </p:txBody>
      </p:sp>
      <p:sp>
        <p:nvSpPr>
          <p:cNvPr id="72" name="Shape 61"/>
          <p:cNvSpPr/>
          <p:nvPr/>
        </p:nvSpPr>
        <p:spPr>
          <a:xfrm>
            <a:off x="8275320" y="548640"/>
            <a:ext cx="3456432" cy="1325880"/>
          </a:xfrm>
          <a:prstGeom prst="roundRect">
            <a:avLst>
              <a:gd name="adj" fmla="val 965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8458200" y="731520"/>
            <a:ext cx="457200" cy="45720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7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644" y="854964"/>
            <a:ext cx="210312" cy="210312"/>
          </a:xfrm>
          <a:prstGeom prst="rect">
            <a:avLst/>
          </a:prstGeom>
        </p:spPr>
      </p:pic>
      <p:sp>
        <p:nvSpPr>
          <p:cNvPr id="75" name="Text 63"/>
          <p:cNvSpPr txBox="1"/>
          <p:nvPr/>
        </p:nvSpPr>
        <p:spPr>
          <a:xfrm>
            <a:off x="9052560" y="749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Agents</a:t>
            </a:r>
            <a:endParaRPr lang="en-US" sz="1350" dirty="0"/>
          </a:p>
        </p:txBody>
      </p:sp>
      <p:sp>
        <p:nvSpPr>
          <p:cNvPr id="76" name="Text 64"/>
          <p:cNvSpPr txBox="1"/>
          <p:nvPr/>
        </p:nvSpPr>
        <p:spPr>
          <a:xfrm>
            <a:off x="8458200" y="12618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per cab — 8 agents in the pilot 5×5 city, scalable to a full fleet.</a:t>
            </a:r>
            <a:endParaRPr lang="en-US" sz="1100" dirty="0"/>
          </a:p>
        </p:txBody>
      </p:sp>
      <p:sp>
        <p:nvSpPr>
          <p:cNvPr id="77" name="Shape 65"/>
          <p:cNvSpPr/>
          <p:nvPr/>
        </p:nvSpPr>
        <p:spPr>
          <a:xfrm>
            <a:off x="8275320" y="2011680"/>
            <a:ext cx="3456432" cy="1325880"/>
          </a:xfrm>
          <a:prstGeom prst="roundRect">
            <a:avLst>
              <a:gd name="adj" fmla="val 965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>
            <a:off x="8458200" y="219456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644" y="2318004"/>
            <a:ext cx="210312" cy="210312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9052560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Each Agent</a:t>
            </a:r>
            <a:endParaRPr lang="en-US" sz="1350" dirty="0"/>
          </a:p>
        </p:txBody>
      </p:sp>
      <p:sp>
        <p:nvSpPr>
          <p:cNvPr id="81" name="Text 68"/>
          <p:cNvSpPr txBox="1"/>
          <p:nvPr/>
        </p:nvSpPr>
        <p:spPr>
          <a:xfrm>
            <a:off x="8458200" y="27249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variants. Decentralised DQN: the cab picks a ride within 3 zones, waits or moves. DQN + Matching: a dispatcher assigns rides, the cab accepts, and the DQN repositions idle cabs.</a:t>
            </a:r>
            <a:endParaRPr lang="en-US" sz="1100" dirty="0"/>
          </a:p>
        </p:txBody>
      </p:sp>
      <p:sp>
        <p:nvSpPr>
          <p:cNvPr id="82" name="Shape 69"/>
          <p:cNvSpPr/>
          <p:nvPr/>
        </p:nvSpPr>
        <p:spPr>
          <a:xfrm>
            <a:off x="8275320" y="3474720"/>
            <a:ext cx="3456432" cy="1325880"/>
          </a:xfrm>
          <a:prstGeom prst="roundRect">
            <a:avLst>
              <a:gd name="adj" fmla="val 965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3" name="Shape 70"/>
          <p:cNvSpPr/>
          <p:nvPr/>
        </p:nvSpPr>
        <p:spPr>
          <a:xfrm>
            <a:off x="8458200" y="365760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84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644" y="3781044"/>
            <a:ext cx="210312" cy="210312"/>
          </a:xfrm>
          <a:prstGeom prst="rect">
            <a:avLst/>
          </a:prstGeom>
        </p:spPr>
      </p:pic>
      <p:sp>
        <p:nvSpPr>
          <p:cNvPr id="85" name="Text 71"/>
          <p:cNvSpPr txBox="1"/>
          <p:nvPr/>
        </p:nvSpPr>
        <p:spPr>
          <a:xfrm>
            <a:off x="9052560" y="3675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of Each Agent</a:t>
            </a:r>
            <a:endParaRPr lang="en-US" sz="1350" dirty="0"/>
          </a:p>
        </p:txBody>
      </p:sp>
      <p:sp>
        <p:nvSpPr>
          <p:cNvPr id="86" name="Text 72"/>
          <p:cNvSpPr txBox="1"/>
          <p:nvPr/>
        </p:nvSpPr>
        <p:spPr>
          <a:xfrm>
            <a:off x="8458200" y="41879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completed-trip earnings while minimising idle and empty driving time.</a:t>
            </a:r>
            <a:endParaRPr lang="en-US" sz="1100" dirty="0"/>
          </a:p>
        </p:txBody>
      </p:sp>
      <p:sp>
        <p:nvSpPr>
          <p:cNvPr id="87" name="Shape 73"/>
          <p:cNvSpPr/>
          <p:nvPr/>
        </p:nvSpPr>
        <p:spPr>
          <a:xfrm>
            <a:off x="8275320" y="4937760"/>
            <a:ext cx="3456432" cy="1325880"/>
          </a:xfrm>
          <a:prstGeom prst="roundRect">
            <a:avLst>
              <a:gd name="adj" fmla="val 965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8" name="Shape 74"/>
          <p:cNvSpPr/>
          <p:nvPr/>
        </p:nvSpPr>
        <p:spPr>
          <a:xfrm>
            <a:off x="8458200" y="51206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89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1644" y="5244084"/>
            <a:ext cx="210312" cy="210312"/>
          </a:xfrm>
          <a:prstGeom prst="rect">
            <a:avLst/>
          </a:prstGeom>
        </p:spPr>
      </p:pic>
      <p:sp>
        <p:nvSpPr>
          <p:cNvPr id="90" name="Text 75"/>
          <p:cNvSpPr txBox="1"/>
          <p:nvPr/>
        </p:nvSpPr>
        <p:spPr>
          <a:xfrm>
            <a:off x="9052560" y="5138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Interactions</a:t>
            </a:r>
            <a:endParaRPr lang="en-US" sz="1350" dirty="0"/>
          </a:p>
        </p:txBody>
      </p:sp>
      <p:sp>
        <p:nvSpPr>
          <p:cNvPr id="91" name="Text 76"/>
          <p:cNvSpPr txBox="1"/>
          <p:nvPr/>
        </p:nvSpPr>
        <p:spPr>
          <a:xfrm>
            <a:off x="8458200" y="56509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idle-cab and open-request counts are part of each cab’s observation (no message passing); a shared city-wide reward term discourages clustering.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Dispatch Cycle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every agent repeats, from a rider’s request to a learning update.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206240" y="914400"/>
            <a:ext cx="0" cy="2926080"/>
          </a:xfrm>
          <a:prstGeom prst="line">
            <a:avLst/>
          </a:prstGeom>
          <a:noFill/>
          <a:ln w="38100">
            <a:solidFill>
              <a:srgbClr val="CFE6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640080"/>
            <a:ext cx="548640" cy="5486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053" y="78821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09160" y="640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Request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640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 requests a trip; it appears as an open request in a zone.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31920" y="1371600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053" y="151973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1371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read their local state: zone, status, nearby demand and idle cabs.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931920" y="2103120"/>
            <a:ext cx="548640" cy="5486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053" y="225125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0916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agent’s DQN picks an action: accept, wait, or reposition.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3931920" y="2834640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0053" y="29827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0916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629400" y="2834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resolves pickup, travel and drop-off, and updates the city.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931920" y="3566160"/>
            <a:ext cx="548640" cy="54864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0053" y="3714293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0916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629400" y="3566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is computed and stored; agents update their Q-networks.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393192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TIMESCALES OF LEARNING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931920" y="4846320"/>
            <a:ext cx="2496312" cy="1417320"/>
          </a:xfrm>
          <a:prstGeom prst="roundRect">
            <a:avLst>
              <a:gd name="adj" fmla="val 9032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114800" y="4956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4114800" y="532180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idle cabs choose an action; the world advances one simulated minute.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583680" y="4846320"/>
            <a:ext cx="2496312" cy="1417320"/>
          </a:xfrm>
          <a:prstGeom prst="roundRect">
            <a:avLst>
              <a:gd name="adj" fmla="val 9032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766560" y="4956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ride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6766560" y="532180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cancelled trips generate fare, wait and idle-cost signals.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9235440" y="4846320"/>
            <a:ext cx="2496312" cy="1417320"/>
          </a:xfrm>
          <a:prstGeom prst="roundRect">
            <a:avLst>
              <a:gd name="adj" fmla="val 9032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418320" y="4956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9418320" y="532180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simulated day, with morning and evening demand peaks, is one training episode.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City Dispatch Environment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grid-city simulator (Gym / PettingZoo style) with stochastic, time-varying ride requests. Demand is synthetic; calibration to real taxi-trip data is future work.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640080"/>
          <a:ext cx="7799832" cy="3794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/ Observation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zone, time, status, open requests and idle cabs in own and neighbouring zones, plus requests reachable within 3 zones and their direction (22 features)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Decentralised DQN: accept an open ride within 3 zones, wait, or move to an adjacent zone. DQN + Matching: dispatcher assigns rides (cab accepts); DQN only waits or repositions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fare for each completed trip,  − rider waiting time,  − idle / empty-driving cost,  − penalty for cancelled requests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Environment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5×5 zone grid, 8 cabs, synthetic random arrivals with morning / evening peaks and an airport hotspot; fares in synthetic units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93192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CONSTRAINTS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31920" y="507492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6B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31920" y="50749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sensing only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507492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6B5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50749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cancel after a timeout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35440" y="507492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6B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50749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pickup radius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0" y="562356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6B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5623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fleet size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562356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6B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5623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shift limit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FORMULATION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 Dispatch as a Markov Decision Process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cab’s decision problem, and why DQN suits it.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31920" y="640080"/>
            <a:ext cx="7799832" cy="621792"/>
          </a:xfrm>
          <a:prstGeom prst="roundRect">
            <a:avLst>
              <a:gd name="adj" fmla="val 20588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640080"/>
            <a:ext cx="822960" cy="621792"/>
          </a:xfrm>
          <a:prstGeom prst="roundRect">
            <a:avLst>
              <a:gd name="adj" fmla="val 2058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64008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6400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64008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features: zone, time, status, local request / idle counts, and requests in pickup reach by direction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1353312"/>
            <a:ext cx="7799832" cy="621792"/>
          </a:xfrm>
          <a:prstGeom prst="roundRect">
            <a:avLst>
              <a:gd name="adj" fmla="val 20588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353312"/>
            <a:ext cx="822960" cy="621792"/>
          </a:xfrm>
          <a:prstGeom prst="roundRect">
            <a:avLst>
              <a:gd name="adj" fmla="val 2058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135331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35331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5331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ride in reach, wait, or move (with matching: wait or move only)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2066544"/>
            <a:ext cx="7799832" cy="621792"/>
          </a:xfrm>
          <a:prstGeom prst="roundRect">
            <a:avLst>
              <a:gd name="adj" fmla="val 20588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2066544"/>
            <a:ext cx="822960" cy="621792"/>
          </a:xfrm>
          <a:prstGeom prst="roundRect">
            <a:avLst>
              <a:gd name="adj" fmla="val 2058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206654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0665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06654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earned, minus rider wait, idle cost and cancellation penalties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2779776"/>
            <a:ext cx="7799832" cy="621792"/>
          </a:xfrm>
          <a:prstGeom prst="roundRect">
            <a:avLst>
              <a:gd name="adj" fmla="val 20588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2779776"/>
            <a:ext cx="822960" cy="621792"/>
          </a:xfrm>
          <a:prstGeom prst="roundRect">
            <a:avLst>
              <a:gd name="adj" fmla="val 2058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31920" y="277977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277977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77977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observed state to a dispatch decision, π(a | 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31920" y="3493008"/>
            <a:ext cx="7799832" cy="621792"/>
          </a:xfrm>
          <a:prstGeom prst="roundRect">
            <a:avLst>
              <a:gd name="adj" fmla="val 20588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3493008"/>
            <a:ext cx="822960" cy="621792"/>
          </a:xfrm>
          <a:prstGeom prst="roundRect">
            <a:avLst>
              <a:gd name="adj" fmla="val 20588"/>
            </a:avLst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31920" y="349300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34930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(γ = 0.95, γᵏ)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49300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Semi-MDP: a transition runs to the cab’s next decision k minutes later and is discounted by γᵏ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31920" y="4343400"/>
            <a:ext cx="7799832" cy="1920240"/>
          </a:xfrm>
          <a:prstGeom prst="roundRect">
            <a:avLst>
              <a:gd name="adj" fmla="val 6667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4526280"/>
            <a:ext cx="502920" cy="50292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028" y="4662068"/>
            <a:ext cx="231343" cy="231343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4892040" y="4526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RL Algorithm: parameter-shared Deep Q-Network (DQN)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251960" y="5120640"/>
            <a:ext cx="7251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(counts, time, status) is large — needs function approximation, not a lookup table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is small and discrete — a natural fit for Q-value methods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 and a target network stabilise learning; only real decision steps are stored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are homogeneous, so all agents share one network (parameter sharing)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FORMULATION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Single-Agent MDP to a Markov Game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Cabs’ rewards and transitions are coupled, so N MDPs become one Markov game.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31920" y="640080"/>
            <a:ext cx="7799832" cy="1554480"/>
          </a:xfrm>
          <a:prstGeom prst="roundRect">
            <a:avLst>
              <a:gd name="adj" fmla="val 8235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777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MARKOV GAMES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 S, {Aᵢ}, T, {Rᵢ}, γ ⟩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= 1 … 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7772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cab’s transition and reward depend on the joint action of all cabs, not just its own — a Markov (stochastic) game, not N separate MDPs.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each cab senses only nearby zones, it is formally a Partially Observable (Decentralised) Markov Game.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0" y="2423160"/>
            <a:ext cx="3794760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560320"/>
            <a:ext cx="411480" cy="41148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900" y="2671420"/>
            <a:ext cx="189281" cy="18928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66344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Agents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3063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 — one per cab in the pilot 5×5 city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36992" y="2423160"/>
            <a:ext cx="3794760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19872" y="2560320"/>
            <a:ext cx="411480" cy="41148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972" y="2671420"/>
            <a:ext cx="189281" cy="18928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668512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or Competitive?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8119872" y="3063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overall, with local competition for the same nearby rider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931920" y="3703320"/>
            <a:ext cx="3794760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14800" y="3840480"/>
            <a:ext cx="411480" cy="41148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900" y="3951580"/>
            <a:ext cx="189281" cy="189281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66344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or Shared Reward?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4114800" y="4343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own earnings and idle cost, plus a shared city-wide wait and unserved-request term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936992" y="3703320"/>
            <a:ext cx="3794760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119872" y="3840480"/>
            <a:ext cx="411480" cy="41148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0972" y="3951580"/>
            <a:ext cx="189281" cy="189281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668512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Agents Interact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8119872" y="4343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idle-cab and open-request counts are read from each cab’s observation (no messages)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931920" y="4983480"/>
            <a:ext cx="3794760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114800" y="5120640"/>
            <a:ext cx="411480" cy="41148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5900" y="5231740"/>
            <a:ext cx="189281" cy="18928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663440" y="5120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Approach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4114800" y="5623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Parameter-shared DQN; VDN trained and benchmarked; QMIX is future work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936992" y="4983480"/>
            <a:ext cx="3794760" cy="1143000"/>
          </a:xfrm>
          <a:prstGeom prst="roundRect">
            <a:avLst>
              <a:gd name="adj" fmla="val 11200"/>
            </a:avLst>
          </a:prstGeom>
          <a:solidFill>
            <a:srgbClr val="CFE6E3"/>
          </a:solidFill>
          <a:ln w="12700">
            <a:solidFill>
              <a:srgbClr val="CFE6E3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668512" y="5554980"/>
            <a:ext cx="713232" cy="0"/>
          </a:xfrm>
          <a:prstGeom prst="line">
            <a:avLst/>
          </a:prstGeom>
          <a:noFill/>
          <a:ln w="19050">
            <a:solidFill>
              <a:srgbClr val="0B4F5C"/>
            </a:solidFill>
            <a:prstDash val="dash"/>
          </a:ln>
        </p:spPr>
      </p:sp>
      <p:sp>
        <p:nvSpPr>
          <p:cNvPr id="39" name="Shape 32"/>
          <p:cNvSpPr/>
          <p:nvPr/>
        </p:nvSpPr>
        <p:spPr>
          <a:xfrm>
            <a:off x="8302752" y="5372100"/>
            <a:ext cx="365760" cy="365760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5463540"/>
            <a:ext cx="182880" cy="18288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9564624" y="5554980"/>
            <a:ext cx="713232" cy="0"/>
          </a:xfrm>
          <a:prstGeom prst="line">
            <a:avLst/>
          </a:prstGeom>
          <a:noFill/>
          <a:ln w="19050">
            <a:solidFill>
              <a:srgbClr val="0B4F5C"/>
            </a:solidFill>
            <a:prstDash val="dash"/>
          </a:ln>
        </p:spPr>
      </p:sp>
      <p:sp>
        <p:nvSpPr>
          <p:cNvPr id="42" name="Shape 34"/>
          <p:cNvSpPr/>
          <p:nvPr/>
        </p:nvSpPr>
        <p:spPr>
          <a:xfrm>
            <a:off x="9198864" y="5372100"/>
            <a:ext cx="365760" cy="365760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5463540"/>
            <a:ext cx="182880" cy="18288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10460736" y="5554980"/>
            <a:ext cx="713232" cy="0"/>
          </a:xfrm>
          <a:prstGeom prst="line">
            <a:avLst/>
          </a:prstGeom>
          <a:noFill/>
          <a:ln w="19050">
            <a:solidFill>
              <a:srgbClr val="0B4F5C"/>
            </a:solidFill>
            <a:prstDash val="dash"/>
          </a:ln>
        </p:spPr>
      </p:sp>
      <p:sp>
        <p:nvSpPr>
          <p:cNvPr id="45" name="Shape 36"/>
          <p:cNvSpPr/>
          <p:nvPr/>
        </p:nvSpPr>
        <p:spPr>
          <a:xfrm>
            <a:off x="10094976" y="5372100"/>
            <a:ext cx="365760" cy="365760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6416" y="5463540"/>
            <a:ext cx="182880" cy="18288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10991088" y="5372100"/>
            <a:ext cx="365760" cy="365760"/>
          </a:xfrm>
          <a:prstGeom prst="ellipse">
            <a:avLst/>
          </a:prstGeom>
          <a:solidFill>
            <a:srgbClr val="FF6B57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2528" y="546354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and Learning Methods We Compare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 baselines, parameter-shared DQN in two variants, and VDN — all on the same held-out demand days.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31920" y="640080"/>
            <a:ext cx="3794760" cy="2788920"/>
          </a:xfrm>
          <a:prstGeom prst="roundRect">
            <a:avLst>
              <a:gd name="adj" fmla="val 459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822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60520" y="109728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4" y="122072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754880" y="1097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Nearest-Cab Greedy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16916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request to the closest idle cab.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331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 </a:t>
            </a: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industry default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2834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</a:t>
            </a: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future demand; cabs bunch up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36992" y="640080"/>
            <a:ext cx="3794760" cy="2788920"/>
          </a:xfrm>
          <a:prstGeom prst="roundRect">
            <a:avLst>
              <a:gd name="adj" fmla="val 459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65592" y="822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165592" y="109728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036" y="1220724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759952" y="1097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Zone-Balancing Rules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165592" y="16916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idle cabs toward zones with historical demand (uses the true airport probability — an oracle prior).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8165592" y="23317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 </a:t>
            </a: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demand patterns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165592" y="2834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</a:t>
            </a: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Static; cannot react to live changes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931920" y="3611880"/>
            <a:ext cx="3794760" cy="2788920"/>
          </a:xfrm>
          <a:prstGeom prst="roundRect">
            <a:avLst>
              <a:gd name="adj" fmla="val 4590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160520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METHOD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160520" y="4069080"/>
            <a:ext cx="457200" cy="45720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964" y="4192524"/>
            <a:ext cx="210312" cy="2103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754880" y="4069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Parameter-shared DQN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4160520" y="46634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Decentralised: each cab picks rides within 3 zones. DQN + Matching: dispatcher assigns rides; DQN repositions idle cabs.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4160520" y="5303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anticipatory positioning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4160520" y="58064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Non-stationary; limited coordination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7936992" y="3611880"/>
            <a:ext cx="3794760" cy="2788920"/>
          </a:xfrm>
          <a:prstGeom prst="roundRect">
            <a:avLst>
              <a:gd name="adj" fmla="val 459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165592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165592" y="406908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036" y="4192524"/>
            <a:ext cx="210312" cy="21031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759952" y="4069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VDN (QMIX: future work)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8165592" y="46634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Per-cab values summed into a joint team value; trained centrally, executed locally. Trained and benchmarked.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8165592" y="5303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 </a:t>
            </a: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cooperation credit assignment</a:t>
            </a:r>
            <a:endParaRPr lang="en-US" sz="1150" dirty="0"/>
          </a:p>
        </p:txBody>
      </p:sp>
      <p:sp>
        <p:nvSpPr>
          <p:cNvPr id="38" name="Text 32"/>
          <p:cNvSpPr txBox="1"/>
          <p:nvPr/>
        </p:nvSpPr>
        <p:spPr>
          <a:xfrm>
            <a:off x="8165592" y="58064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</a:t>
            </a: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training; more tuning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steps, including a fix-and-re-evaluate pass after the first benchmark.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31920" y="640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640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90068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dispatch goals, metrics and scope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31920" y="1783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0" y="1783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709160" y="1920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2043684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035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Design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7091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grid-city simulator and demand model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931920" y="2926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114800" y="2926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4709160" y="3063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604" y="3186684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0352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70916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cab observations, actions and reward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931920" y="4069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114800" y="4069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Shape 22"/>
          <p:cNvSpPr/>
          <p:nvPr/>
        </p:nvSpPr>
        <p:spPr>
          <a:xfrm>
            <a:off x="4709160" y="4206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604" y="432968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30352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 / Markov Game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709160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the multi-agent problem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936992" y="640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119872" y="640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33" name="Shape 27"/>
          <p:cNvSpPr/>
          <p:nvPr/>
        </p:nvSpPr>
        <p:spPr>
          <a:xfrm>
            <a:off x="8714232" y="777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7676" y="900684"/>
            <a:ext cx="210312" cy="21031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308592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Algorithm Selection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8714232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parameter-shared DQN, plan VDN / QMIX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936992" y="1783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119872" y="1783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39" name="Shape 32"/>
          <p:cNvSpPr/>
          <p:nvPr/>
        </p:nvSpPr>
        <p:spPr>
          <a:xfrm>
            <a:off x="8714232" y="1920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7676" y="2043684"/>
            <a:ext cx="210312" cy="21031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308592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714232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agents over simulated days and peaks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7936992" y="2926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8119872" y="2926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45" name="Shape 37"/>
          <p:cNvSpPr/>
          <p:nvPr/>
        </p:nvSpPr>
        <p:spPr>
          <a:xfrm>
            <a:off x="8714232" y="3063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7676" y="3186684"/>
            <a:ext cx="210312" cy="21031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9308592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Coordination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8714232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counts in observation, shared reward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3931920" y="5212080"/>
            <a:ext cx="7799832" cy="1005840"/>
          </a:xfrm>
          <a:prstGeom prst="roundRect">
            <a:avLst>
              <a:gd name="adj" fmla="val 10000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4114800" y="5212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51" name="Shape 42"/>
          <p:cNvSpPr/>
          <p:nvPr/>
        </p:nvSpPr>
        <p:spPr>
          <a:xfrm>
            <a:off x="4709160" y="5349240"/>
            <a:ext cx="457200" cy="45720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5472684"/>
            <a:ext cx="210312" cy="210312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530352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&amp; Re-evaluate</a:t>
            </a:r>
            <a:endParaRPr lang="en-US" sz="1300" dirty="0"/>
          </a:p>
        </p:txBody>
      </p:sp>
      <p:sp>
        <p:nvSpPr>
          <p:cNvPr id="54" name="Text 44"/>
          <p:cNvSpPr txBox="1"/>
          <p:nvPr/>
        </p:nvSpPr>
        <p:spPr>
          <a:xfrm>
            <a:off x="4709160" y="5806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pickup reach, decision-step-only replay, 3 training seeds, VDN trained — then benchmark again on held-out days</a:t>
            </a:r>
            <a:endParaRPr lang="en-US" sz="1150" dirty="0"/>
          </a:p>
        </p:txBody>
      </p:sp>
      <p:sp>
        <p:nvSpPr>
          <p:cNvPr id="55" name="Shape 35"/>
          <p:cNvSpPr/>
          <p:nvPr/>
        </p:nvSpPr>
        <p:spPr>
          <a:xfrm>
            <a:off x="7936992" y="4069080"/>
            <a:ext cx="3794760" cy="1005840"/>
          </a:xfrm>
          <a:prstGeom prst="roundRect">
            <a:avLst>
              <a:gd name="adj" fmla="val 10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6" name="Text 36"/>
          <p:cNvSpPr txBox="1"/>
          <p:nvPr/>
        </p:nvSpPr>
        <p:spPr>
          <a:xfrm>
            <a:off x="8119872" y="40690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57" name="Shape 37"/>
          <p:cNvSpPr/>
          <p:nvPr/>
        </p:nvSpPr>
        <p:spPr>
          <a:xfrm>
            <a:off x="8714232" y="4206240"/>
            <a:ext cx="457200" cy="45720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7676" y="4329684"/>
            <a:ext cx="210312" cy="210312"/>
          </a:xfrm>
          <a:prstGeom prst="rect">
            <a:avLst/>
          </a:prstGeom>
        </p:spPr>
      </p:pic>
      <p:sp>
        <p:nvSpPr>
          <p:cNvPr id="59" name="Text 38"/>
          <p:cNvSpPr txBox="1"/>
          <p:nvPr/>
        </p:nvSpPr>
        <p:spPr>
          <a:xfrm>
            <a:off x="9308592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60" name="Text 39"/>
          <p:cNvSpPr txBox="1"/>
          <p:nvPr/>
        </p:nvSpPr>
        <p:spPr>
          <a:xfrm>
            <a:off x="8714232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baselines and analyse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Measure Success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measured results will be reported — here is what and how.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31920" y="6400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822960"/>
            <a:ext cx="502920" cy="50292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588" y="958748"/>
            <a:ext cx="231343" cy="2313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114800" y="14630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rider wait time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31713" y="6400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14593" y="8229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381" y="95874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14593" y="14630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pickup distance / ETA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31506" y="6400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14386" y="8229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174" y="958748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14386" y="14630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rate (% served)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931298" y="6400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14178" y="822960"/>
            <a:ext cx="502920" cy="50292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967" y="95874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114178" y="14630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931920" y="22402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114800" y="24231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0588" y="2558948"/>
            <a:ext cx="231343" cy="231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0632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Empty-driving ratio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931713" y="22402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114593" y="24231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381" y="2558948"/>
            <a:ext cx="231343" cy="23134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114593" y="30632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utilisation &amp; earnings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7931506" y="22402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114386" y="2423160"/>
            <a:ext cx="502920" cy="50292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0174" y="2558948"/>
            <a:ext cx="231343" cy="23134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114386" y="30632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fairness across cabs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9931298" y="2240280"/>
            <a:ext cx="1810512" cy="1417320"/>
          </a:xfrm>
          <a:prstGeom prst="roundRect">
            <a:avLst>
              <a:gd name="adj" fmla="val 9032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10114178" y="24231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967" y="2558948"/>
            <a:ext cx="231343" cy="231343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0114178" y="30632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speed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3931920" y="3840480"/>
            <a:ext cx="7799832" cy="2423160"/>
          </a:xfrm>
          <a:prstGeom prst="roundRect">
            <a:avLst>
              <a:gd name="adj" fmla="val 5283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4206240" y="4023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4206240" y="4526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scenarios for all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5120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faces identical held-out demand patterns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6053328" y="4526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vs off-peak</a:t>
            </a:r>
            <a:endParaRPr lang="en-US" sz="1350" dirty="0"/>
          </a:p>
        </p:txBody>
      </p:sp>
      <p:sp>
        <p:nvSpPr>
          <p:cNvPr id="44" name="Text 34"/>
          <p:cNvSpPr txBox="1"/>
          <p:nvPr/>
        </p:nvSpPr>
        <p:spPr>
          <a:xfrm>
            <a:off x="6053328" y="5120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results for rush hours and quiet periods</a:t>
            </a:r>
            <a:endParaRPr lang="en-US" sz="1150" dirty="0"/>
          </a:p>
        </p:txBody>
      </p:sp>
      <p:sp>
        <p:nvSpPr>
          <p:cNvPr id="45" name="Text 35"/>
          <p:cNvSpPr txBox="1"/>
          <p:nvPr/>
        </p:nvSpPr>
        <p:spPr>
          <a:xfrm>
            <a:off x="7900416" y="4526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Fleet-size sweep</a:t>
            </a:r>
            <a:endParaRPr lang="en-US" sz="1350" dirty="0"/>
          </a:p>
        </p:txBody>
      </p:sp>
      <p:sp>
        <p:nvSpPr>
          <p:cNvPr id="46" name="Text 36"/>
          <p:cNvSpPr txBox="1"/>
          <p:nvPr/>
        </p:nvSpPr>
        <p:spPr>
          <a:xfrm>
            <a:off x="7900416" y="5120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the number of cabs to test scalability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9747504" y="4526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random seeds</a:t>
            </a:r>
            <a:endParaRPr lang="en-US" sz="1350" dirty="0"/>
          </a:p>
        </p:txBody>
      </p:sp>
      <p:sp>
        <p:nvSpPr>
          <p:cNvPr id="48" name="Text 38"/>
          <p:cNvSpPr txBox="1"/>
          <p:nvPr/>
        </p:nvSpPr>
        <p:spPr>
          <a:xfrm>
            <a:off x="9747504" y="5120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mean and spread, not a single run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Actually Measured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held-out synthetic days, 8 cabs. Decentralised DQN serves 84.4% vs 85.7% for Zone Balancing. Central planners see all requests; their gains are not RL.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640080"/>
          <a:ext cx="7799840" cy="2880360"/>
        </p:xfrm>
        <a:graphic>
          <a:graphicData uri="http://schemas.openxmlformats.org/drawingml/2006/table">
            <a:tbl>
              <a:tblPr/>
              <a:tblGrid>
                <a:gridCol w="3017520"/>
                <a:gridCol w="1325880"/>
                <a:gridCol w="1051560"/>
                <a:gridCol w="1325880"/>
                <a:gridCol w="107900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(8 cabs)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 (min)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zones/day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Fairness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Cab · central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 ± 1.4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Balancing · central, oracle prior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 ± 0.9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Coordinated Matching · central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 ± 1.5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Predictive Coordinated · central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 ± 0.9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Incoming-aware · central reference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 ± 0.9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1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DQN, decentralised · RL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 ± 1.4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1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DQN + Matching · RL repositioning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85.4% ± 0.9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1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VDN · RL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83.9% ± 1.2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93192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OFF-PEAK · 8 CABS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38160" y="4069080"/>
            <a:ext cx="3593592" cy="1920240"/>
          </a:xfrm>
          <a:prstGeom prst="roundRect">
            <a:avLst>
              <a:gd name="adj" fmla="val 6000"/>
            </a:avLst>
          </a:prstGeom>
          <a:solidFill>
            <a:srgbClr val="E9F3F1"/>
          </a:solidFill>
          <a:ln w="19050">
            <a:noFill/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4114800"/>
            <a:ext cx="3410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+ Matching minus Coordinated Matching (95% CI):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0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-0.417 min [-0.475, -0.359] — significantly better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0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+3.01 pp [+2.45, +3.57] — significantly better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0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+468 zones/day [+445, +490] — significantly worse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100" b="0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learned repositioning trades extra empty driving for service and wait. The forecast planner (no RL) still waits less: 1.18 vs 1.56 min.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4069080"/>
          <a:ext cx="393192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Served, 8 cabs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Off-peak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Cab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Balancing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4F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Coordinated Matching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61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DQN, decentralised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61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DQN + Matching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61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VDN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2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anchor="ctr" marT="27432" marB="27432">
                    <a:lnL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5"/>
          <p:cNvSpPr txBox="1"/>
          <p:nvPr/>
        </p:nvSpPr>
        <p:spPr>
          <a:xfrm>
            <a:off x="8138160" y="3749040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TEST · SAME MATCHER ± RL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DESIGN CHOICES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and How We Address Them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multi-agent RL difficulties and evaluation pitfalls, each paired with a design choice.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502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502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MITIGATION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868680"/>
            <a:ext cx="3977640" cy="77724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982980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933" y="1131113"/>
            <a:ext cx="252374" cy="25237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84632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Non-stationary learning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cab’s policy shifts what the others see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12014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458200" y="868680"/>
            <a:ext cx="3273552" cy="777240"/>
          </a:xfrm>
          <a:prstGeom prst="roundRect">
            <a:avLst>
              <a:gd name="adj" fmla="val 10769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86800" y="868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replay, target networks and shared weights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931920" y="1755648"/>
            <a:ext cx="3977640" cy="77724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0" y="1869948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933" y="2018081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4632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Delayed, sparse rewards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fare only arrives after pickup and drop-off</a:t>
            </a:r>
            <a:endParaRPr lang="en-US" sz="11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007108"/>
            <a:ext cx="274320" cy="2743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458200" y="1755648"/>
            <a:ext cx="3273552" cy="777240"/>
          </a:xfrm>
          <a:prstGeom prst="roundRect">
            <a:avLst>
              <a:gd name="adj" fmla="val 10769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0" y="17556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wait and idle penalties to guide learning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931920" y="2642616"/>
            <a:ext cx="3977640" cy="77724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114800" y="2756916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2933" y="2905049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846320" y="2734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with fleet size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846320" y="30540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explodes as cabs are added</a:t>
            </a:r>
            <a:endParaRPr lang="en-US" sz="11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894076"/>
            <a:ext cx="274320" cy="27432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458200" y="2642616"/>
            <a:ext cx="3273552" cy="777240"/>
          </a:xfrm>
          <a:prstGeom prst="roundRect">
            <a:avLst>
              <a:gd name="adj" fmla="val 10769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686800" y="264261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observations plus neighbour info only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3931920" y="3529584"/>
            <a:ext cx="3977640" cy="77724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114800" y="3643884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2933" y="3792017"/>
            <a:ext cx="252374" cy="25237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46320" y="3621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Herding into hotspots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941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cabs chase the same high-demand zone</a:t>
            </a:r>
            <a:endParaRPr lang="en-US" sz="11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781044"/>
            <a:ext cx="274320" cy="27432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8458200" y="3529584"/>
            <a:ext cx="3273552" cy="777240"/>
          </a:xfrm>
          <a:prstGeom prst="roundRect">
            <a:avLst>
              <a:gd name="adj" fmla="val 10769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8686800" y="35295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city-level reward term and neighbour counts</a:t>
            </a:r>
            <a:endParaRPr lang="en-US" sz="1300" dirty="0"/>
          </a:p>
        </p:txBody>
      </p:sp>
      <p:sp>
        <p:nvSpPr>
          <p:cNvPr id="41" name="Shape 25"/>
          <p:cNvSpPr/>
          <p:nvPr/>
        </p:nvSpPr>
        <p:spPr>
          <a:xfrm>
            <a:off x="3931920" y="4416552"/>
            <a:ext cx="3977640" cy="77724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>
            <a:off x="4114800" y="4530852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2933" y="4678985"/>
            <a:ext cx="252374" cy="252374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4846320" y="4507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comparison</a:t>
            </a:r>
            <a:endParaRPr lang="en-US" sz="1350" dirty="0"/>
          </a:p>
        </p:txBody>
      </p:sp>
      <p:sp>
        <p:nvSpPr>
          <p:cNvPr id="45" name="Text 28"/>
          <p:cNvSpPr txBox="1"/>
          <p:nvPr/>
        </p:nvSpPr>
        <p:spPr>
          <a:xfrm>
            <a:off x="4846320" y="4828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reached 1 zone; baselines reached 3</a:t>
            </a:r>
            <a:endParaRPr lang="en-US" sz="115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668012"/>
            <a:ext cx="274320" cy="274320"/>
          </a:xfrm>
          <a:prstGeom prst="rect">
            <a:avLst/>
          </a:prstGeom>
        </p:spPr>
      </p:pic>
      <p:sp>
        <p:nvSpPr>
          <p:cNvPr id="47" name="Shape 29"/>
          <p:cNvSpPr/>
          <p:nvPr/>
        </p:nvSpPr>
        <p:spPr>
          <a:xfrm>
            <a:off x="8458200" y="4416552"/>
            <a:ext cx="3273552" cy="777240"/>
          </a:xfrm>
          <a:prstGeom prst="roundRect">
            <a:avLst>
              <a:gd name="adj" fmla="val 10769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8" name="Text 30"/>
          <p:cNvSpPr txBox="1"/>
          <p:nvPr/>
        </p:nvSpPr>
        <p:spPr>
          <a:xfrm>
            <a:off x="8686800" y="44165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3-zone reach; paired test vs the same matcher; central info and oracle prior disclosed</a:t>
            </a:r>
            <a:endParaRPr lang="en-US" sz="1300" dirty="0"/>
          </a:p>
        </p:txBody>
      </p:sp>
      <p:sp>
        <p:nvSpPr>
          <p:cNvPr id="49" name="Shape 25"/>
          <p:cNvSpPr/>
          <p:nvPr/>
        </p:nvSpPr>
        <p:spPr>
          <a:xfrm>
            <a:off x="3931920" y="5303520"/>
            <a:ext cx="3977640" cy="777240"/>
          </a:xfrm>
          <a:prstGeom prst="roundRect">
            <a:avLst>
              <a:gd name="adj" fmla="val 10769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50" name="Shape 26"/>
          <p:cNvSpPr/>
          <p:nvPr/>
        </p:nvSpPr>
        <p:spPr>
          <a:xfrm>
            <a:off x="4114800" y="5417820"/>
            <a:ext cx="548640" cy="54864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2933" y="5565953"/>
            <a:ext cx="252374" cy="252374"/>
          </a:xfrm>
          <a:prstGeom prst="rect">
            <a:avLst/>
          </a:prstGeom>
        </p:spPr>
      </p:pic>
      <p:sp>
        <p:nvSpPr>
          <p:cNvPr id="52" name="Text 27"/>
          <p:cNvSpPr txBox="1"/>
          <p:nvPr/>
        </p:nvSpPr>
        <p:spPr>
          <a:xfrm>
            <a:off x="4846320" y="5394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to one seed</a:t>
            </a:r>
            <a:endParaRPr lang="en-US" sz="1350" dirty="0"/>
          </a:p>
        </p:txBody>
      </p:sp>
      <p:sp>
        <p:nvSpPr>
          <p:cNvPr id="53" name="Text 28"/>
          <p:cNvSpPr txBox="1"/>
          <p:nvPr/>
        </p:nvSpPr>
        <p:spPr>
          <a:xfrm>
            <a:off x="4846320" y="5715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lucky training run can mislead</a:t>
            </a:r>
            <a:endParaRPr lang="en-US" sz="115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5554980"/>
            <a:ext cx="274320" cy="274320"/>
          </a:xfrm>
          <a:prstGeom prst="rect">
            <a:avLst/>
          </a:prstGeom>
        </p:spPr>
      </p:pic>
      <p:sp>
        <p:nvSpPr>
          <p:cNvPr id="55" name="Shape 29"/>
          <p:cNvSpPr/>
          <p:nvPr/>
        </p:nvSpPr>
        <p:spPr>
          <a:xfrm>
            <a:off x="8458200" y="5303520"/>
            <a:ext cx="3273552" cy="777240"/>
          </a:xfrm>
          <a:prstGeom prst="roundRect">
            <a:avLst>
              <a:gd name="adj" fmla="val 10769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56" name="Text 30"/>
          <p:cNvSpPr txBox="1"/>
          <p:nvPr/>
        </p:nvSpPr>
        <p:spPr>
          <a:xfrm>
            <a:off x="8686800" y="5303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training seeds pooled; evaluation on disjoint held-out seeds (900000+)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and Beyond the Project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phases are complete; open items move to the longer-term list.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CF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 PROJECT  ·  CAB DISPATCH USING RL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FINAL PRESENTATION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0" cy="2651760"/>
          </a:xfrm>
          <a:prstGeom prst="line">
            <a:avLst/>
          </a:prstGeom>
          <a:noFill/>
          <a:ln w="38100">
            <a:solidFill>
              <a:srgbClr val="CFE6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124712"/>
            <a:ext cx="640080" cy="640080"/>
          </a:xfrm>
          <a:prstGeom prst="ellipse">
            <a:avLst/>
          </a:prstGeom>
          <a:solidFill>
            <a:srgbClr val="FF6B5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1124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46320" y="868680"/>
            <a:ext cx="6885432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868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Baselines  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868680"/>
            <a:ext cx="4187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Grid-city simulator built — done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Nearest-cab and zone-balancing baselines — done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423160"/>
            <a:ext cx="640080" cy="640080"/>
          </a:xfrm>
          <a:prstGeom prst="ellipse">
            <a:avLst/>
          </a:prstGeom>
          <a:solidFill>
            <a:srgbClr val="FF6B5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2167128"/>
            <a:ext cx="6885432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216712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Coordinate  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167128"/>
            <a:ext cx="4187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Parameter-shared DQN trained on 3 seeds — done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reward and neighbour counts — done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31920" y="3721608"/>
            <a:ext cx="640080" cy="640080"/>
          </a:xfrm>
          <a:prstGeom prst="ellipse">
            <a:avLst/>
          </a:prstGeom>
          <a:solidFill>
            <a:srgbClr val="FF6B5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3721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846320" y="3465576"/>
            <a:ext cx="6885432" cy="1143000"/>
          </a:xfrm>
          <a:prstGeom prst="roundRect">
            <a:avLst>
              <a:gd name="adj" fmla="val 112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0" y="3465576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&amp; Extend  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465576"/>
            <a:ext cx="4187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benchmarked on held-out days — done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VDN trained and benchmarked — done; QMIX — future work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 PROJECT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1920" y="5166360"/>
            <a:ext cx="1810512" cy="1097280"/>
          </a:xfrm>
          <a:prstGeom prst="roundRect">
            <a:avLst>
              <a:gd name="adj" fmla="val 11667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5303520"/>
            <a:ext cx="365760" cy="36576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835" y="5402275"/>
            <a:ext cx="168250" cy="16825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4498848" y="530352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Ride-pooling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069080" y="5760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several riders per cab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897880" y="5166360"/>
            <a:ext cx="1810512" cy="1097280"/>
          </a:xfrm>
          <a:prstGeom prst="roundRect">
            <a:avLst>
              <a:gd name="adj" fmla="val 11667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5303520"/>
            <a:ext cx="365760" cy="36576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795" y="5402275"/>
            <a:ext cx="168250" cy="16825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464808" y="530352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035040" y="5760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when and where to charge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7863840" y="5166360"/>
            <a:ext cx="1810512" cy="1097280"/>
          </a:xfrm>
          <a:prstGeom prst="roundRect">
            <a:avLst>
              <a:gd name="adj" fmla="val 11667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001000" y="5303520"/>
            <a:ext cx="365760" cy="36576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755" y="5402275"/>
            <a:ext cx="168250" cy="16825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430768" y="530352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8001000" y="5760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demand with fares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9829800" y="5166360"/>
            <a:ext cx="1810512" cy="1097280"/>
          </a:xfrm>
          <a:prstGeom prst="roundRect">
            <a:avLst>
              <a:gd name="adj" fmla="val 11667"/>
            </a:avLst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966960" y="5303520"/>
            <a:ext cx="365760" cy="36576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715" y="5402275"/>
            <a:ext cx="168250" cy="16825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0396728" y="530352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city data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9966960" y="5760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trip records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5603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309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AAI Project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0" y="1737360"/>
            <a:ext cx="4325112" cy="1005840"/>
          </a:xfrm>
          <a:prstGeom prst="roundRect">
            <a:avLst>
              <a:gd name="adj" fmla="val 10909"/>
            </a:avLst>
          </a:prstGeom>
          <a:solidFill>
            <a:srgbClr val="126A7A"/>
          </a:solidFill>
          <a:ln w="12700">
            <a:solidFill>
              <a:srgbClr val="126A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0" y="2011680"/>
            <a:ext cx="457200" cy="45720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524" y="213512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38160" y="19476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Aarya Shah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27685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E011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0" y="2926080"/>
            <a:ext cx="4325112" cy="1005840"/>
          </a:xfrm>
          <a:prstGeom prst="roundRect">
            <a:avLst>
              <a:gd name="adj" fmla="val 10909"/>
            </a:avLst>
          </a:prstGeom>
          <a:solidFill>
            <a:srgbClr val="126A7A"/>
          </a:solidFill>
          <a:ln w="12700">
            <a:solidFill>
              <a:srgbClr val="126A7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0" y="3200400"/>
            <a:ext cx="457200" cy="45720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524" y="332384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38160" y="313639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Kavya Gala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138160" y="346557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E015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315200" y="4114800"/>
            <a:ext cx="4325112" cy="1005840"/>
          </a:xfrm>
          <a:prstGeom prst="roundRect">
            <a:avLst>
              <a:gd name="adj" fmla="val 10909"/>
            </a:avLst>
          </a:prstGeom>
          <a:solidFill>
            <a:srgbClr val="126A7A"/>
          </a:solidFill>
          <a:ln w="12700">
            <a:solidFill>
              <a:srgbClr val="126A7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0" y="4389120"/>
            <a:ext cx="457200" cy="457200"/>
          </a:xfrm>
          <a:prstGeom prst="ellipse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524" y="451256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138160" y="43251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Parekh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465429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</a:t>
            </a:r>
            <a:r>
              <a:rPr lang="en-US" sz="1150">
                <a:solidFill>
                  <a:srgbClr val="CD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E031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6A2D30100BAB418B4AB144E0677A47" ma:contentTypeVersion="12" ma:contentTypeDescription="Create a new document." ma:contentTypeScope="" ma:versionID="533458c0eb7f431ebe75525c4dfb49d8">
  <xsd:schema xmlns:xsd="http://www.w3.org/2001/XMLSchema" xmlns:xs="http://www.w3.org/2001/XMLSchema" xmlns:p="http://schemas.microsoft.com/office/2006/metadata/properties" xmlns:ns2="3946e37a-88e3-4f0c-9287-2537a761c074" xmlns:ns3="3ca841db-7393-41e1-a15e-9a938065ba81" targetNamespace="http://schemas.microsoft.com/office/2006/metadata/properties" ma:root="true" ma:fieldsID="e28177bea15cb43e0eb1b54720a3b414" ns2:_="" ns3:_="">
    <xsd:import namespace="3946e37a-88e3-4f0c-9287-2537a761c074"/>
    <xsd:import namespace="3ca841db-7393-41e1-a15e-9a938065ba8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6e37a-88e3-4f0c-9287-2537a761c07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a841db-7393-41e1-a15e-9a938065ba81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b89eea2-90cf-4387-9a54-d7443258c654}" ma:internalName="TaxCatchAll" ma:showField="CatchAllData" ma:web="3ca841db-7393-41e1-a15e-9a938065ba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3946e37a-88e3-4f0c-9287-2537a761c074" xsi:nil="true"/>
    <lcf76f155ced4ddcb4097134ff3c332f xmlns="3946e37a-88e3-4f0c-9287-2537a761c074">
      <Terms xmlns="http://schemas.microsoft.com/office/infopath/2007/PartnerControls"/>
    </lcf76f155ced4ddcb4097134ff3c332f>
    <TaxCatchAll xmlns="3ca841db-7393-41e1-a15e-9a938065ba81" xsi:nil="true"/>
  </documentManagement>
</p:properties>
</file>

<file path=customXml/itemProps1.xml><?xml version="1.0" encoding="utf-8"?>
<ds:datastoreItem xmlns:ds="http://schemas.openxmlformats.org/officeDocument/2006/customXml" ds:itemID="{CCBD8219-F5EF-48DC-B2FC-A93D99CFA3CE}"/>
</file>

<file path=customXml/itemProps2.xml><?xml version="1.0" encoding="utf-8"?>
<ds:datastoreItem xmlns:ds="http://schemas.openxmlformats.org/officeDocument/2006/customXml" ds:itemID="{B7CB6CB7-842F-4AD1-A3C1-ACD98A729E24}"/>
</file>

<file path=customXml/itemProps3.xml><?xml version="1.0" encoding="utf-8"?>
<ds:datastoreItem xmlns:ds="http://schemas.openxmlformats.org/officeDocument/2006/customXml" ds:itemID="{27A0A313-077B-440C-B763-4E33893587EF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1898</Words>
  <Application>Microsoft Office PowerPoint</Application>
  <PresentationFormat>Widescreen</PresentationFormat>
  <Paragraphs>290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Cab Dispatch using Reinforcement Learning</dc:title>
  <dc:subject>PptxGenJS Presentation</dc:subject>
  <dc:creator>PptxGenJS</dc:creator>
  <cp:lastModifiedBy>aarya shah</cp:lastModifiedBy>
  <cp:revision>4</cp:revision>
  <dcterms:created xsi:type="dcterms:W3CDTF">2026-09-21T18:36:53Z</dcterms:created>
  <dcterms:modified xsi:type="dcterms:W3CDTF">2026-10-05T17:13:22Z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0x0101007C6A2D30100BAB418B4AB144E0677A47</vt:lpwstr>
  </property>
</Properties>
</file>